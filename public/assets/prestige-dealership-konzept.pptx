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11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ditorial-banner.png"/>
          <p:cNvPicPr>
            <a:picLocks noChangeAspect="1"/>
          </p:cNvPicPr>
          <p:nvPr/>
        </p:nvPicPr>
        <p:blipFill>
          <a:blip r:embed="rId2"/>
          <a:srcRect l="15798" r="15798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056000" cy="6858000"/>
          </a:xfrm>
          <a:prstGeom prst="rect">
            <a:avLst/>
          </a:prstGeom>
          <a:solidFill>
            <a:srgbClr val="070707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H="1">
            <a:off x="5940000" y="-360000"/>
            <a:ext cx="1656000" cy="7560000"/>
          </a:xfrm>
          <a:prstGeom prst="line">
            <a:avLst/>
          </a:prstGeom>
          <a:ln w="19050">
            <a:solidFill>
              <a:srgbClr val="E0B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HF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396000"/>
            <a:ext cx="2988000" cy="17656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000" y="2232000"/>
            <a:ext cx="5940000" cy="86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Georgia"/>
              </a:rPr>
              <a:t>PRESTIGE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3132000"/>
            <a:ext cx="5940000" cy="86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800" b="1" i="0">
                <a:solidFill>
                  <a:srgbClr val="E0B456"/>
                </a:solidFill>
                <a:latin typeface="Georgia"/>
              </a:rPr>
              <a:t>DEALERSHIP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4248000"/>
            <a:ext cx="558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EXKLUSIVITÄT HAT IHREN PREIS.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4824000"/>
            <a:ext cx="900000" cy="50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5112000"/>
            <a:ext cx="540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Konzept eines kontrollierten Importhauses für seltene, hochwertige und limitierte Fahrzeuge.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0" y="5544000"/>
            <a:ext cx="1548000" cy="900000"/>
          </a:xfrm>
          <a:prstGeom prst="roundRect">
            <a:avLst>
              <a:gd name="adj" fmla="val 8000"/>
            </a:avLst>
          </a:prstGeom>
          <a:solidFill>
            <a:srgbClr val="070707">
              <a:alpha val="88000"/>
            </a:srgbClr>
          </a:solidFill>
          <a:ln w="8255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8000" y="5670000"/>
            <a:ext cx="13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PROJEKTART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8000" y="5940000"/>
            <a:ext cx="133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Exklusiver Fahrzeughandel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32000" y="5544000"/>
            <a:ext cx="1548000" cy="900000"/>
          </a:xfrm>
          <a:prstGeom prst="roundRect">
            <a:avLst>
              <a:gd name="adj" fmla="val 8000"/>
            </a:avLst>
          </a:prstGeom>
          <a:solidFill>
            <a:srgbClr val="070707">
              <a:alpha val="88000"/>
            </a:srgbClr>
          </a:solidFill>
          <a:ln w="8255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0000" y="5670000"/>
            <a:ext cx="13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UNTERNEHMEN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0000" y="5940000"/>
            <a:ext cx="133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Prestige Dealership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24000" y="5544000"/>
            <a:ext cx="1548000" cy="900000"/>
          </a:xfrm>
          <a:prstGeom prst="roundRect">
            <a:avLst>
              <a:gd name="adj" fmla="val 8000"/>
            </a:avLst>
          </a:prstGeom>
          <a:solidFill>
            <a:srgbClr val="070707">
              <a:alpha val="88000"/>
            </a:srgbClr>
          </a:solidFill>
          <a:ln w="8255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000" y="5670000"/>
            <a:ext cx="133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ANSPRECHPARTNER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000" y="5940000"/>
            <a:ext cx="133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HL|JamesMS &amp; HL|Vagari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504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200"/>
            <a:ext cx="12192011" cy="198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H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61200"/>
            <a:ext cx="340870" cy="3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8000" y="79200"/>
            <a:ext cx="331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PRESTIGE DEALERSHIP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8000" y="93600"/>
            <a:ext cx="558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KURZFASSUNG &amp; ANTRAG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2000" y="79200"/>
            <a:ext cx="126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02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6566400"/>
            <a:ext cx="11473200" cy="1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606000"/>
            <a:ext cx="11473200" cy="15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666666"/>
                </a:solidFill>
                <a:latin typeface="Arial"/>
              </a:rPr>
              <a:t>AH MOTORS  ·  EXKLUSIVER FAHRZEUGHANDEL  ·  PALETO BAY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756000"/>
            <a:ext cx="540000" cy="540000"/>
          </a:xfrm>
          <a:prstGeom prst="roundRect">
            <a:avLst>
              <a:gd name="adj" fmla="val 8000"/>
            </a:avLst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799200"/>
            <a:ext cx="540000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774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71717"/>
                </a:solidFill>
                <a:latin typeface="Arial"/>
              </a:rPr>
              <a:t>KURZFASSUNG UND ANTRAG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000" y="1152000"/>
            <a:ext cx="1008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8B5C0C"/>
                </a:solidFill>
                <a:latin typeface="Arial"/>
              </a:rPr>
              <a:t>Was genehmigt und bereitgestellt werden soll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000" y="1332000"/>
            <a:ext cx="10548000" cy="162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000" y="1584000"/>
            <a:ext cx="11340000" cy="1044000"/>
          </a:xfrm>
          <a:prstGeom prst="rect">
            <a:avLst/>
          </a:prstGeom>
          <a:solidFill>
            <a:srgbClr val="F7EEDC"/>
          </a:solidFill>
          <a:ln w="8255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000" y="1584000"/>
            <a:ext cx="72000" cy="10440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000" y="1656000"/>
            <a:ext cx="432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0" i="0">
                <a:solidFill>
                  <a:srgbClr val="C58A22"/>
                </a:solidFill>
                <a:latin typeface="Georgia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000" y="1692000"/>
            <a:ext cx="10440000" cy="82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800" b="0" i="0">
                <a:solidFill>
                  <a:srgbClr val="171717"/>
                </a:solidFill>
                <a:latin typeface="Arial"/>
              </a:rPr>
              <a:t>Prestige Dealership wird als dauerhaft bespieltes Autohaus für hochwertige, seltene und limitierte Fahrzeuge aufgebaut. Beratung, Vertragsabschluss und Fahrzeugübergabe werden zu nachvollziehbarem Roleplay.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2952000"/>
            <a:ext cx="5580000" cy="140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00" y="3096000"/>
            <a:ext cx="432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500" b="1" i="0">
                <a:solidFill>
                  <a:srgbClr val="C58A22"/>
                </a:solidFill>
                <a:latin typeface="Georgia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0" y="3096000"/>
            <a:ext cx="43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8B5C0C"/>
                </a:solidFill>
                <a:latin typeface="Arial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000" y="3096000"/>
            <a:ext cx="4176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8B5C0C"/>
                </a:solidFill>
                <a:latin typeface="Arial"/>
              </a:rPr>
              <a:t>UNTERNEHMENSFREIGABE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52000" y="3492000"/>
            <a:ext cx="4680000" cy="14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2000" y="3636000"/>
            <a:ext cx="4644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171717"/>
                </a:solidFill>
                <a:latin typeface="Arial"/>
              </a:rPr>
              <a:t>Grundsätzliche Genehmigung als dauerhaft bespieltes Spielerunternehmen.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2000" y="2952000"/>
            <a:ext cx="5580000" cy="140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000" y="3096000"/>
            <a:ext cx="432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500" b="1" i="0">
                <a:solidFill>
                  <a:srgbClr val="C58A22"/>
                </a:solidFill>
                <a:latin typeface="Georgia"/>
              </a:rPr>
              <a:t>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60000" y="3096000"/>
            <a:ext cx="43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8B5C0C"/>
                </a:solidFill>
                <a:latin typeface="Arial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000" y="3096000"/>
            <a:ext cx="4176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8B5C0C"/>
                </a:solidFill>
                <a:latin typeface="Arial"/>
              </a:rPr>
              <a:t>JOB &amp; RÄNGE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12000" y="3492000"/>
            <a:ext cx="4680000" cy="14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12000" y="3636000"/>
            <a:ext cx="4644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171717"/>
                </a:solidFill>
                <a:latin typeface="Arial"/>
              </a:rPr>
              <a:t>Freigabe des Jobs prestige mit klaren Rollen und Berechtigungen.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000" y="4608000"/>
            <a:ext cx="5580000" cy="140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00" y="4752000"/>
            <a:ext cx="432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500" b="1" i="0">
                <a:solidFill>
                  <a:srgbClr val="C58A22"/>
                </a:solidFill>
                <a:latin typeface="Georgia"/>
              </a:rPr>
              <a:t>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0000" y="4752000"/>
            <a:ext cx="43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8B5C0C"/>
                </a:solidFill>
                <a:latin typeface="Arial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000" y="4752000"/>
            <a:ext cx="4176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8B5C0C"/>
                </a:solidFill>
                <a:latin typeface="Arial"/>
              </a:rPr>
              <a:t>STANDORT &amp; ZUGRIFFE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2000" y="5148000"/>
            <a:ext cx="4680000" cy="14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52000" y="5292000"/>
            <a:ext cx="4644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171717"/>
                </a:solidFill>
                <a:latin typeface="Arial"/>
              </a:rPr>
              <a:t>MLO in Paleto Bay mit Showroom, Verkaufstresen und Garage.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2000" y="4608000"/>
            <a:ext cx="5580000" cy="140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6000" y="4752000"/>
            <a:ext cx="432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500" b="1" i="0">
                <a:solidFill>
                  <a:srgbClr val="C58A22"/>
                </a:solidFill>
                <a:latin typeface="Georgia"/>
              </a:rPr>
              <a:t>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60000" y="4752000"/>
            <a:ext cx="43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8B5C0C"/>
                </a:solidFill>
                <a:latin typeface="Arial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12000" y="4752000"/>
            <a:ext cx="4176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8B5C0C"/>
                </a:solidFill>
                <a:latin typeface="Arial"/>
              </a:rPr>
              <a:t>FAHRZEUGRAHMEN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12000" y="5148000"/>
            <a:ext cx="4680000" cy="14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12000" y="5292000"/>
            <a:ext cx="4644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171717"/>
                </a:solidFill>
                <a:latin typeface="Arial"/>
              </a:rPr>
              <a:t>Kontrollierte Modelle, Bestände und Preise; neue Fahrzeuge nur abgestimmt.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504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200"/>
            <a:ext cx="12192011" cy="198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H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61200"/>
            <a:ext cx="340870" cy="3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8000" y="79200"/>
            <a:ext cx="331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PRESTIGE DEALERSHIP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8000" y="93600"/>
            <a:ext cx="558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ZIEL &amp; GRUNDIDEE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2000" y="79200"/>
            <a:ext cx="126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03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6566400"/>
            <a:ext cx="11473200" cy="1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606000"/>
            <a:ext cx="11473200" cy="15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666666"/>
                </a:solidFill>
                <a:latin typeface="Arial"/>
              </a:rPr>
              <a:t>AH MOTORS  ·  EXKLUSIVER FAHRZEUGHANDEL  ·  PALETO BAY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756000"/>
            <a:ext cx="540000" cy="540000"/>
          </a:xfrm>
          <a:prstGeom prst="roundRect">
            <a:avLst>
              <a:gd name="adj" fmla="val 8000"/>
            </a:avLst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799200"/>
            <a:ext cx="540000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774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71717"/>
                </a:solidFill>
                <a:latin typeface="Arial"/>
              </a:rPr>
              <a:t>ZIEL UND GRUNDIDEE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000" y="1152000"/>
            <a:ext cx="1008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8B5C0C"/>
                </a:solidFill>
                <a:latin typeface="Arial"/>
              </a:rPr>
              <a:t>Exklusiver Importhandel statt Massenverkauf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000" y="1332000"/>
            <a:ext cx="10548000" cy="162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1728000"/>
            <a:ext cx="5400000" cy="1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 i="0">
                <a:solidFill>
                  <a:srgbClr val="171717"/>
                </a:solidFill>
                <a:latin typeface="Arial"/>
              </a:rPr>
              <a:t>Prestige Dealership ergänzt bestehende Standard-Autohäuser, ersetzt sie aber nicht. Angeboten werden Fahrzeuge, deren Seltenheit, Preis oder besondere Nutzung einen persönlichen Verkaufsprozess rechtfertigen.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3888000"/>
            <a:ext cx="5400000" cy="1116000"/>
          </a:xfrm>
          <a:prstGeom prst="rect">
            <a:avLst/>
          </a:prstGeom>
          <a:solidFill>
            <a:srgbClr val="070707"/>
          </a:solidFill>
          <a:ln w="8255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0000" y="3888000"/>
            <a:ext cx="72000" cy="11160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000" y="3960000"/>
            <a:ext cx="432000" cy="9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0" i="0">
                <a:solidFill>
                  <a:srgbClr val="C58A22"/>
                </a:solidFill>
                <a:latin typeface="Georgia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0000" y="3996000"/>
            <a:ext cx="45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Ein Fahrzeugkauf wird als ausgespielter Vorgang wahrgenommen – nicht als einfache Menüaktion.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8000" y="1620000"/>
            <a:ext cx="2556000" cy="18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8000" y="1620000"/>
            <a:ext cx="2556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8000" y="2172600"/>
            <a:ext cx="2556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2000" y="1702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4000" y="1738800"/>
            <a:ext cx="183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0B456"/>
                </a:solidFill>
                <a:latin typeface="Arial"/>
              </a:rPr>
              <a:t>2.1  WIRTSCHAFTS-RP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4000" y="2376000"/>
            <a:ext cx="2124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171717"/>
                </a:solidFill>
                <a:latin typeface="Arial"/>
              </a:rPr>
              <a:t>Langfristiges, seriöses Unternehmens- und Wirtschafts-RP.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0000" y="1620000"/>
            <a:ext cx="2556000" cy="18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80000" y="1620000"/>
            <a:ext cx="2556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0000" y="2172600"/>
            <a:ext cx="2556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4000" y="1702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00" y="1738800"/>
            <a:ext cx="183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0B456"/>
                </a:solidFill>
                <a:latin typeface="Arial"/>
              </a:rPr>
              <a:t>2.2  NEUE RP-ANLÄSSE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96000" y="2376000"/>
            <a:ext cx="2124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171717"/>
                </a:solidFill>
                <a:latin typeface="Arial"/>
              </a:rPr>
              <a:t>Beratung, Bestellungen, Lieferungen und persönliche Übergaben.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8000" y="3708000"/>
            <a:ext cx="2556000" cy="18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8000" y="3708000"/>
            <a:ext cx="2556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8000" y="4260600"/>
            <a:ext cx="2556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2000" y="3790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4000" y="3826800"/>
            <a:ext cx="183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0B456"/>
                </a:solidFill>
                <a:latin typeface="Arial"/>
              </a:rPr>
              <a:t>2.3  KONTROLLIERTE EXKLUSIVITÄT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4000" y="4464000"/>
            <a:ext cx="2124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171717"/>
                </a:solidFill>
                <a:latin typeface="Arial"/>
              </a:rPr>
              <a:t>Begrenzte Verfügbarkeit hochwertiger Fahrzeuge.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80000" y="3708000"/>
            <a:ext cx="2556000" cy="18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80000" y="3708000"/>
            <a:ext cx="2556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80000" y="4260600"/>
            <a:ext cx="2556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4000" y="3790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6000" y="3826800"/>
            <a:ext cx="183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0B456"/>
                </a:solidFill>
                <a:latin typeface="Arial"/>
              </a:rPr>
              <a:t>2.4  ZUSAMMENARBEIT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96000" y="4464000"/>
            <a:ext cx="2124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171717"/>
                </a:solidFill>
                <a:latin typeface="Arial"/>
              </a:rPr>
              <a:t>Spieler, Unternehmen und Eventveranstalter verbinden.</a:t>
            </a:r>
          </a:p>
        </p:txBody>
      </p:sp>
      <p:pic>
        <p:nvPicPr>
          <p:cNvPr id="44" name="Picture 43" descr="AH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0" y="5040000"/>
            <a:ext cx="95443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504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200"/>
            <a:ext cx="12192011" cy="198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H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61200"/>
            <a:ext cx="340870" cy="3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8000" y="79200"/>
            <a:ext cx="331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PRESTIGE DEALERSHIP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8000" y="93600"/>
            <a:ext cx="558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NUTZEN FÜR DEN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2000" y="79200"/>
            <a:ext cx="126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04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6566400"/>
            <a:ext cx="11473200" cy="1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606000"/>
            <a:ext cx="11473200" cy="15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666666"/>
                </a:solidFill>
                <a:latin typeface="Arial"/>
              </a:rPr>
              <a:t>AH MOTORS  ·  EXKLUSIVER FAHRZEUGHANDEL  ·  PALETO BAY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756000"/>
            <a:ext cx="540000" cy="540000"/>
          </a:xfrm>
          <a:prstGeom prst="roundRect">
            <a:avLst>
              <a:gd name="adj" fmla="val 8000"/>
            </a:avLst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799200"/>
            <a:ext cx="540000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774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71717"/>
                </a:solidFill>
                <a:latin typeface="Arial"/>
              </a:rPr>
              <a:t>NUTZEN FÜR DEN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000" y="1152000"/>
            <a:ext cx="1008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8B5C0C"/>
                </a:solidFill>
                <a:latin typeface="Arial"/>
              </a:rPr>
              <a:t>Mehrwert für Roleplay, Wirtschaft und Leitung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000" y="1332000"/>
            <a:ext cx="10548000" cy="162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2000" y="1764000"/>
            <a:ext cx="3564000" cy="410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000" y="1764000"/>
            <a:ext cx="356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000" y="2316600"/>
            <a:ext cx="356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00" y="1846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000" y="1882800"/>
            <a:ext cx="284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E0B456"/>
                </a:solidFill>
                <a:latin typeface="Arial"/>
              </a:rPr>
              <a:t>3.1  ROLEPLAY-MEHRWERT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" y="2520000"/>
            <a:ext cx="3132000" cy="32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  <a:defRPr sz="1550" b="0">
                <a:solidFill>
                  <a:srgbClr val="171717"/>
                </a:solidFill>
                <a:latin typeface="Arial"/>
              </a:defRPr>
            </a:pPr>
            <a:r>
              <a:t>•  Persönliche Beratung und Übergaben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50" b="0">
                <a:solidFill>
                  <a:srgbClr val="171717"/>
                </a:solidFill>
                <a:latin typeface="Arial"/>
              </a:defRPr>
            </a:pPr>
            <a:r>
              <a:t>•  Aufgaben, Verantwortung und Aufstieg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50" b="0">
                <a:solidFill>
                  <a:srgbClr val="171717"/>
                </a:solidFill>
                <a:latin typeface="Arial"/>
              </a:defRPr>
            </a:pPr>
            <a:r>
              <a:t>•  Partnerschaften mit Werkstätten, Tuning, Security und Events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50" b="0">
                <a:solidFill>
                  <a:srgbClr val="171717"/>
                </a:solidFill>
                <a:latin typeface="Arial"/>
              </a:defRPr>
            </a:pPr>
            <a:r>
              <a:t>•  Wiederkehrende Community-Inhalte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8000" y="1764000"/>
            <a:ext cx="3564000" cy="410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48000" y="1764000"/>
            <a:ext cx="356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48000" y="2316600"/>
            <a:ext cx="356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92000" y="1846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4000" y="1882800"/>
            <a:ext cx="284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E0B456"/>
                </a:solidFill>
                <a:latin typeface="Arial"/>
              </a:rPr>
              <a:t>3.2  WIRTSCHAFTLICHER MEHRWERT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4000" y="2520000"/>
            <a:ext cx="3132000" cy="32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  <a:defRPr sz="1550" b="0">
                <a:solidFill>
                  <a:srgbClr val="171717"/>
                </a:solidFill>
                <a:latin typeface="Arial"/>
              </a:defRPr>
            </a:pPr>
            <a:r>
              <a:t>•  Hochpreisige Fahrzeuge binden Spielerkapital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50" b="0">
                <a:solidFill>
                  <a:srgbClr val="171717"/>
                </a:solidFill>
                <a:latin typeface="Arial"/>
              </a:defRPr>
            </a:pPr>
            <a:r>
              <a:t>•  Limitierte Bestände verhindern Überversorgung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50" b="0">
                <a:solidFill>
                  <a:srgbClr val="171717"/>
                </a:solidFill>
                <a:latin typeface="Arial"/>
              </a:defRPr>
            </a:pPr>
            <a:r>
              <a:t>•  Verkäufe, Rabatte und Stornos bleiben nachvollziehbar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50" b="0">
                <a:solidFill>
                  <a:srgbClr val="171717"/>
                </a:solidFill>
                <a:latin typeface="Arial"/>
              </a:defRPr>
            </a:pPr>
            <a:r>
              <a:t>•  Importkosten verhindern unrealistische Vollmargen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4000" y="1764000"/>
            <a:ext cx="3564000" cy="410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4000" y="1764000"/>
            <a:ext cx="356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4000" y="2316600"/>
            <a:ext cx="356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8000" y="1846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0000" y="1882800"/>
            <a:ext cx="284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E0B456"/>
                </a:solidFill>
                <a:latin typeface="Arial"/>
              </a:rPr>
              <a:t>3.3  MEHRWERT FÜR DIE SERVERLEITUNG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0000" y="2520000"/>
            <a:ext cx="3132000" cy="32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  <a:defRPr sz="1550" b="0">
                <a:solidFill>
                  <a:srgbClr val="171717"/>
                </a:solidFill>
                <a:latin typeface="Arial"/>
              </a:defRPr>
            </a:pPr>
            <a:r>
              <a:t>•  Serverseitige Prüfung wichtiger Vorgänge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50" b="0">
                <a:solidFill>
                  <a:srgbClr val="171717"/>
                </a:solidFill>
                <a:latin typeface="Arial"/>
              </a:defRPr>
            </a:pPr>
            <a:r>
              <a:t>•  Kontrollierbare Preise, Rechte und Bestände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50" b="0">
                <a:solidFill>
                  <a:srgbClr val="171717"/>
                </a:solidFill>
                <a:latin typeface="Arial"/>
              </a:defRPr>
            </a:pPr>
            <a:r>
              <a:t>•  Transparente Protokolle und Eingriffsmöglichkeiten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50" b="0">
                <a:solidFill>
                  <a:srgbClr val="171717"/>
                </a:solidFill>
                <a:latin typeface="Arial"/>
              </a:defRPr>
            </a:pPr>
            <a:r>
              <a:t>•  Klare Pilot- und Auswertungsphase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504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200"/>
            <a:ext cx="12192011" cy="198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H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61200"/>
            <a:ext cx="340870" cy="3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8000" y="79200"/>
            <a:ext cx="331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PRESTIGE DEALERSHIP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8000" y="93600"/>
            <a:ext cx="558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ABGRENZUNG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2000" y="79200"/>
            <a:ext cx="126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05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6566400"/>
            <a:ext cx="11473200" cy="1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606000"/>
            <a:ext cx="11473200" cy="15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666666"/>
                </a:solidFill>
                <a:latin typeface="Arial"/>
              </a:rPr>
              <a:t>AH MOTORS  ·  EXKLUSIVER FAHRZEUGHANDEL  ·  PALETO BAY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756000"/>
            <a:ext cx="540000" cy="540000"/>
          </a:xfrm>
          <a:prstGeom prst="roundRect">
            <a:avLst>
              <a:gd name="adj" fmla="val 8000"/>
            </a:avLst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799200"/>
            <a:ext cx="540000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774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71717"/>
                </a:solidFill>
                <a:latin typeface="Arial"/>
              </a:rPr>
              <a:t>ABGRENZUNG ZU BESTEHENDEN ANGEBOTEN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000" y="1152000"/>
            <a:ext cx="1008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8B5C0C"/>
                </a:solidFill>
                <a:latin typeface="Arial"/>
              </a:rPr>
              <a:t>Kein zweites allgemeines Autohaus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000" y="1332000"/>
            <a:ext cx="10548000" cy="162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000" y="1584000"/>
            <a:ext cx="11340000" cy="972000"/>
          </a:xfrm>
          <a:prstGeom prst="rect">
            <a:avLst/>
          </a:prstGeom>
          <a:solidFill>
            <a:srgbClr val="070707"/>
          </a:solidFill>
          <a:ln w="8255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000" y="1584000"/>
            <a:ext cx="72000" cy="9720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000" y="1656000"/>
            <a:ext cx="432000" cy="82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0" i="0">
                <a:solidFill>
                  <a:srgbClr val="C58A22"/>
                </a:solidFill>
                <a:latin typeface="Georgia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000" y="1692000"/>
            <a:ext cx="10440000" cy="75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Alltags- und Einsteigerfahrzeuge bleiben bei den vorgesehenen Standardhändlern. Überschneidungen sind ausdrücklich nicht vorgesehen.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2952000"/>
            <a:ext cx="3564000" cy="15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000" y="2952000"/>
            <a:ext cx="356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3504600"/>
            <a:ext cx="356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00" y="3034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000" y="3070800"/>
            <a:ext cx="284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0B456"/>
                </a:solidFill>
                <a:latin typeface="Arial"/>
              </a:rPr>
              <a:t>4.1  SELTENE IMPORTE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000" y="3708000"/>
            <a:ext cx="313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171717"/>
                </a:solidFill>
                <a:latin typeface="Arial"/>
              </a:rPr>
              <a:t>Limitierte Kontingente statt identischem Standardsortiment.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84000" y="2952000"/>
            <a:ext cx="3564000" cy="15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84000" y="2952000"/>
            <a:ext cx="356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84000" y="3504600"/>
            <a:ext cx="356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8000" y="3034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0000" y="3070800"/>
            <a:ext cx="284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0B456"/>
                </a:solidFill>
                <a:latin typeface="Arial"/>
              </a:rPr>
              <a:t>4.2  VERKAUF AUF BESTELLUNG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0000" y="3708000"/>
            <a:ext cx="313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171717"/>
                </a:solidFill>
                <a:latin typeface="Arial"/>
              </a:rPr>
              <a:t>Beschaffung und Übergabe nach vorheriger Beratung.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6000" y="2952000"/>
            <a:ext cx="3564000" cy="15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6000" y="2952000"/>
            <a:ext cx="356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6000" y="3504600"/>
            <a:ext cx="356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0000" y="3034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12000" y="3070800"/>
            <a:ext cx="284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0B456"/>
                </a:solidFill>
                <a:latin typeface="Arial"/>
              </a:rPr>
              <a:t>4.3  PERSÖNLICHER PROZESS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2000" y="3708000"/>
            <a:ext cx="313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171717"/>
                </a:solidFill>
                <a:latin typeface="Arial"/>
              </a:rPr>
              <a:t>Hochwertige Betreuung statt anonymem Sofortverkauf.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76000" y="4752000"/>
            <a:ext cx="3564000" cy="15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376000" y="4752000"/>
            <a:ext cx="356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376000" y="5304600"/>
            <a:ext cx="356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20000" y="4834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52000" y="4870800"/>
            <a:ext cx="284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0B456"/>
                </a:solidFill>
                <a:latin typeface="Arial"/>
              </a:rPr>
              <a:t>4.4  GENEHMIGTE PREMIEREN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92000" y="5508000"/>
            <a:ext cx="313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171717"/>
                </a:solidFill>
                <a:latin typeface="Arial"/>
              </a:rPr>
              <a:t>Auktionen, Verlosungen und Events nur nach Freigabe.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28000" y="4752000"/>
            <a:ext cx="3564000" cy="15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28000" y="4752000"/>
            <a:ext cx="356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28000" y="5304600"/>
            <a:ext cx="356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72000" y="4834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04000" y="4870800"/>
            <a:ext cx="284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0B456"/>
                </a:solidFill>
                <a:latin typeface="Arial"/>
              </a:rPr>
              <a:t>4.5  KUNDENHISTORIE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4000" y="5508000"/>
            <a:ext cx="3132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171717"/>
                </a:solidFill>
                <a:latin typeface="Arial"/>
              </a:rPr>
              <a:t>Nachvollziehbare Entscheidungen und langfristige Bindung.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504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200"/>
            <a:ext cx="12192011" cy="198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H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61200"/>
            <a:ext cx="340870" cy="3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8000" y="79200"/>
            <a:ext cx="331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PRESTIGE DEALERSHIP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8000" y="93600"/>
            <a:ext cx="558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GESCHÄFTSBEREICHE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2000" y="79200"/>
            <a:ext cx="126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06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6566400"/>
            <a:ext cx="11473200" cy="1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606000"/>
            <a:ext cx="11473200" cy="15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666666"/>
                </a:solidFill>
                <a:latin typeface="Arial"/>
              </a:rPr>
              <a:t>AH MOTORS  ·  EXKLUSIVER FAHRZEUGHANDEL  ·  PALETO BAY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756000"/>
            <a:ext cx="540000" cy="540000"/>
          </a:xfrm>
          <a:prstGeom prst="roundRect">
            <a:avLst>
              <a:gd name="adj" fmla="val 8000"/>
            </a:avLst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799200"/>
            <a:ext cx="540000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774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71717"/>
                </a:solidFill>
                <a:latin typeface="Arial"/>
              </a:rPr>
              <a:t>GESCHÄFTSBEREICHE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000" y="1152000"/>
            <a:ext cx="1008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8B5C0C"/>
                </a:solidFill>
                <a:latin typeface="Arial"/>
              </a:rPr>
              <a:t>Drei Säulen des Prestige Dealership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000" y="1332000"/>
            <a:ext cx="10548000" cy="162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2000" y="1728000"/>
            <a:ext cx="3564000" cy="417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000" y="1728000"/>
            <a:ext cx="356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000" y="2280600"/>
            <a:ext cx="356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00" y="1810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000" y="1846800"/>
            <a:ext cx="284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E0B456"/>
                </a:solidFill>
                <a:latin typeface="Arial"/>
              </a:rPr>
              <a:t>5.1  EXKLUSIVE IMPORTFAHRZEUGE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" y="2484000"/>
            <a:ext cx="3132000" cy="32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Supersportwagen, Luxuslimousinen, seltene SUVs und Klassiker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Begrenzter Lagerbestand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Vorbestellung mit Anzahlung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Einzelbeschaffung auf Anfrage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Auktion nur nach Genehmigung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8000" y="1728000"/>
            <a:ext cx="3564000" cy="417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48000" y="1728000"/>
            <a:ext cx="356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48000" y="2280600"/>
            <a:ext cx="356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92000" y="1810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VIP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4000" y="1846800"/>
            <a:ext cx="284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E0B456"/>
                </a:solidFill>
                <a:latin typeface="Arial"/>
              </a:rPr>
              <a:t>5.2  KUNDENPROGRAMM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4000" y="2484000"/>
            <a:ext cx="3132000" cy="32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Vorabinformationen und Reservierungen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Einladungen zu Premieren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Preisnachlässe innerhalb normaler Grenzen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Kein spielentscheidender Vorteil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Nicht für Echtgeld käuflich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4000" y="1728000"/>
            <a:ext cx="3564000" cy="417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4000" y="1728000"/>
            <a:ext cx="356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4000" y="2280600"/>
            <a:ext cx="356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8000" y="1810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0000" y="1846800"/>
            <a:ext cx="284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E0B456"/>
                </a:solidFill>
                <a:latin typeface="Arial"/>
              </a:rPr>
              <a:t>5.3  EVENTS &amp; SONDERAKTIONEN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0000" y="2484000"/>
            <a:ext cx="3132000" cy="32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Fahrzeugpremieren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Cars &amp; Coffee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Fahrzeugmessen und Charity-Events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Rennen und Verlosungen nur regelkonform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Genehmigung im erforderlichen Umfang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504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200"/>
            <a:ext cx="12192011" cy="198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H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61200"/>
            <a:ext cx="340870" cy="3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8000" y="79200"/>
            <a:ext cx="331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PRESTIGE DEALERSHIP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8000" y="93600"/>
            <a:ext cx="558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VERKAUFSABLAUF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2000" y="79200"/>
            <a:ext cx="126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07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6566400"/>
            <a:ext cx="11473200" cy="1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606000"/>
            <a:ext cx="11473200" cy="15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666666"/>
                </a:solidFill>
                <a:latin typeface="Arial"/>
              </a:rPr>
              <a:t>AH MOTORS  ·  EXKLUSIVER FAHRZEUGHANDEL  ·  PALETO BAY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756000"/>
            <a:ext cx="540000" cy="540000"/>
          </a:xfrm>
          <a:prstGeom prst="roundRect">
            <a:avLst>
              <a:gd name="adj" fmla="val 8000"/>
            </a:avLst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799200"/>
            <a:ext cx="540000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774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71717"/>
                </a:solidFill>
                <a:latin typeface="Arial"/>
              </a:rPr>
              <a:t>GEPLANTER VERKAUFSABLAUF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000" y="1152000"/>
            <a:ext cx="1008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8B5C0C"/>
                </a:solidFill>
                <a:latin typeface="Arial"/>
              </a:rPr>
              <a:t>Sechs bestätigte und protokollierte Schritte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000" y="1332000"/>
            <a:ext cx="10548000" cy="162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6000" y="1872000"/>
            <a:ext cx="864000" cy="864000"/>
          </a:xfrm>
          <a:prstGeom prst="ellipse">
            <a:avLst/>
          </a:prstGeom>
          <a:solidFill>
            <a:srgbClr val="070707"/>
          </a:solidFill>
          <a:ln w="15240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6000" y="1980000"/>
            <a:ext cx="86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C58A22"/>
                </a:solidFill>
                <a:latin typeface="Arial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" y="2952000"/>
            <a:ext cx="1944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8B5C0C"/>
                </a:solidFill>
                <a:latin typeface="Arial"/>
              </a:rPr>
              <a:t>AUSWAHL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" y="3384000"/>
            <a:ext cx="1944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171717"/>
                </a:solidFill>
                <a:latin typeface="Arial"/>
              </a:rPr>
              <a:t>Fahrzeug wählen oder Anfrage stellen.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72000" y="2304000"/>
            <a:ext cx="576000" cy="0"/>
          </a:xfrm>
          <a:prstGeom prst="line">
            <a:avLst/>
          </a:prstGeom>
          <a:ln w="17780">
            <a:solidFill>
              <a:srgbClr val="8B5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880000" y="1872000"/>
            <a:ext cx="864000" cy="864000"/>
          </a:xfrm>
          <a:prstGeom prst="ellipse">
            <a:avLst/>
          </a:prstGeom>
          <a:solidFill>
            <a:srgbClr val="070707"/>
          </a:solidFill>
          <a:ln w="15240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000" y="1980000"/>
            <a:ext cx="86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C58A22"/>
                </a:solidFill>
                <a:latin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0000" y="2952000"/>
            <a:ext cx="1944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8B5C0C"/>
                </a:solidFill>
                <a:latin typeface="Arial"/>
              </a:rPr>
              <a:t>ANGEBOT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40000" y="3384000"/>
            <a:ext cx="1944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171717"/>
                </a:solidFill>
                <a:latin typeface="Arial"/>
              </a:rPr>
              <a:t>Verbindliches Angebot erstellen.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16000" y="2304000"/>
            <a:ext cx="576000" cy="0"/>
          </a:xfrm>
          <a:prstGeom prst="line">
            <a:avLst/>
          </a:prstGeom>
          <a:ln w="17780">
            <a:solidFill>
              <a:srgbClr val="8B5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824000" y="1872000"/>
            <a:ext cx="864000" cy="864000"/>
          </a:xfrm>
          <a:prstGeom prst="ellipse">
            <a:avLst/>
          </a:prstGeom>
          <a:solidFill>
            <a:srgbClr val="070707"/>
          </a:solidFill>
          <a:ln w="15240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4000" y="1980000"/>
            <a:ext cx="86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C58A22"/>
                </a:solidFill>
                <a:latin typeface="Arial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84000" y="2952000"/>
            <a:ext cx="1944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8B5C0C"/>
                </a:solidFill>
                <a:latin typeface="Arial"/>
              </a:rPr>
              <a:t>PRÜFUNG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84000" y="3384000"/>
            <a:ext cx="1944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171717"/>
                </a:solidFill>
                <a:latin typeface="Arial"/>
              </a:rPr>
              <a:t>Preis, Rabatt, Bestand und Rechte prüfen.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760000" y="2304000"/>
            <a:ext cx="576000" cy="0"/>
          </a:xfrm>
          <a:prstGeom prst="line">
            <a:avLst/>
          </a:prstGeom>
          <a:ln w="17780">
            <a:solidFill>
              <a:srgbClr val="8B5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768000" y="1872000"/>
            <a:ext cx="864000" cy="864000"/>
          </a:xfrm>
          <a:prstGeom prst="ellipse">
            <a:avLst/>
          </a:prstGeom>
          <a:solidFill>
            <a:srgbClr val="070707"/>
          </a:solidFill>
          <a:ln w="15240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8000" y="1980000"/>
            <a:ext cx="86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C58A22"/>
                </a:solidFill>
                <a:latin typeface="Arial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8000" y="2952000"/>
            <a:ext cx="1944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8B5C0C"/>
                </a:solidFill>
                <a:latin typeface="Arial"/>
              </a:rPr>
              <a:t>BESTÄTIGUNG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8000" y="3384000"/>
            <a:ext cx="1944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171717"/>
                </a:solidFill>
                <a:latin typeface="Arial"/>
              </a:rPr>
              <a:t>Endpreis sehen und Kauf bestätigen.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04000" y="2304000"/>
            <a:ext cx="576000" cy="0"/>
          </a:xfrm>
          <a:prstGeom prst="line">
            <a:avLst/>
          </a:prstGeom>
          <a:ln w="17780">
            <a:solidFill>
              <a:srgbClr val="8B5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712000" y="1872000"/>
            <a:ext cx="864000" cy="864000"/>
          </a:xfrm>
          <a:prstGeom prst="ellipse">
            <a:avLst/>
          </a:prstGeom>
          <a:solidFill>
            <a:srgbClr val="070707"/>
          </a:solidFill>
          <a:ln w="15240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12000" y="1980000"/>
            <a:ext cx="86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C58A22"/>
                </a:solidFill>
                <a:latin typeface="Arial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72000" y="2952000"/>
            <a:ext cx="1944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8B5C0C"/>
                </a:solidFill>
                <a:latin typeface="Arial"/>
              </a:rPr>
              <a:t>ÜBERGABE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2000" y="3384000"/>
            <a:ext cx="1944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171717"/>
                </a:solidFill>
                <a:latin typeface="Arial"/>
              </a:rPr>
              <a:t>Zahlung, Fahrzeug und Garage zuordnen.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648000" y="2304000"/>
            <a:ext cx="576000" cy="0"/>
          </a:xfrm>
          <a:prstGeom prst="line">
            <a:avLst/>
          </a:prstGeom>
          <a:ln w="17780">
            <a:solidFill>
              <a:srgbClr val="8B5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0656000" y="1872000"/>
            <a:ext cx="864000" cy="864000"/>
          </a:xfrm>
          <a:prstGeom prst="ellipse">
            <a:avLst/>
          </a:prstGeom>
          <a:solidFill>
            <a:srgbClr val="070707"/>
          </a:solidFill>
          <a:ln w="15240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56000" y="1980000"/>
            <a:ext cx="86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C58A22"/>
                </a:solidFill>
                <a:latin typeface="Arial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16000" y="2952000"/>
            <a:ext cx="1944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8B5C0C"/>
                </a:solidFill>
                <a:latin typeface="Arial"/>
              </a:rPr>
              <a:t>ABSCHLUSS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16000" y="3384000"/>
            <a:ext cx="1944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171717"/>
                </a:solidFill>
                <a:latin typeface="Arial"/>
              </a:rPr>
              <a:t>Unterlagen und Vorgang protokollieren.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000" y="5004000"/>
            <a:ext cx="11340000" cy="1008000"/>
          </a:xfrm>
          <a:prstGeom prst="rect">
            <a:avLst/>
          </a:prstGeom>
          <a:solidFill>
            <a:srgbClr val="070707"/>
          </a:solidFill>
          <a:ln w="8255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000" y="5004000"/>
            <a:ext cx="72000" cy="10080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000" y="5076000"/>
            <a:ext cx="432000" cy="86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0" i="0">
                <a:solidFill>
                  <a:srgbClr val="C58A22"/>
                </a:solidFill>
                <a:latin typeface="Georgia"/>
              </a:rPr>
              <a:t>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2000" y="5112000"/>
            <a:ext cx="10440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Stornierungen sind nur durch berechtigte Mitarbeiter mit vollständigem Audit-Eintrag möglich. Kein Preis und kein Fahrzeug wird unbemerkt verändert oder übertragen.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504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200"/>
            <a:ext cx="12192011" cy="198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H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61200"/>
            <a:ext cx="340870" cy="3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8000" y="79200"/>
            <a:ext cx="331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PRESTIGE DEALERSHIP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8000" y="93600"/>
            <a:ext cx="558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PREIS &amp; BESTAND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2000" y="79200"/>
            <a:ext cx="126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08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6566400"/>
            <a:ext cx="11473200" cy="1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606000"/>
            <a:ext cx="11473200" cy="15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666666"/>
                </a:solidFill>
                <a:latin typeface="Arial"/>
              </a:rPr>
              <a:t>AH MOTORS  ·  EXKLUSIVER FAHRZEUGHANDEL  ·  PALETO BAY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756000"/>
            <a:ext cx="540000" cy="540000"/>
          </a:xfrm>
          <a:prstGeom prst="roundRect">
            <a:avLst>
              <a:gd name="adj" fmla="val 8000"/>
            </a:avLst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799200"/>
            <a:ext cx="540000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774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71717"/>
                </a:solidFill>
                <a:latin typeface="Arial"/>
              </a:rPr>
              <a:t>PREIS-, BESTANDS- UND WIRTSCHAFTSREGELN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000" y="1152000"/>
            <a:ext cx="1008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8B5C0C"/>
                </a:solidFill>
                <a:latin typeface="Arial"/>
              </a:rPr>
              <a:t>Kontrollierte Verfügbarkeit statt freier Fahrzeugerzeugung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000" y="1332000"/>
            <a:ext cx="10548000" cy="162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2000" y="1692000"/>
            <a:ext cx="4068000" cy="41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000" y="1692000"/>
            <a:ext cx="4068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000" y="2244600"/>
            <a:ext cx="4068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00" y="1774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000" y="1810800"/>
            <a:ext cx="3348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E0B456"/>
                </a:solidFill>
                <a:latin typeface="Arial"/>
              </a:rPr>
              <a:t>7.1  VERBINDLICHE GRUNDSÄTZE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" y="2448000"/>
            <a:ext cx="3636000" cy="3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  <a:defRPr sz="1430" b="0">
                <a:solidFill>
                  <a:srgbClr val="171717"/>
                </a:solidFill>
                <a:latin typeface="Arial"/>
              </a:defRPr>
            </a:pPr>
            <a:r>
              <a:t>•  Serverleitung gibt Modelle, Basispreise und Stückzahlen frei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430" b="0">
                <a:solidFill>
                  <a:srgbClr val="171717"/>
                </a:solidFill>
                <a:latin typeface="Arial"/>
              </a:defRPr>
            </a:pPr>
            <a:r>
              <a:t>•  Preisänderungen werden begründet und protokolliert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430" b="0">
                <a:solidFill>
                  <a:srgbClr val="171717"/>
                </a:solidFill>
                <a:latin typeface="Arial"/>
              </a:defRPr>
            </a:pPr>
            <a:r>
              <a:t>•  Keine unbegrenzte Nachfüllung seltener Fahrzeuge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430" b="0">
                <a:solidFill>
                  <a:srgbClr val="171717"/>
                </a:solidFill>
                <a:latin typeface="Arial"/>
              </a:defRPr>
            </a:pPr>
            <a:r>
              <a:t>•  Keine Eigenkäufe, Scheinverkäufe oder Zweitcharakter-Vorteile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430" b="0">
                <a:solidFill>
                  <a:srgbClr val="171717"/>
                </a:solidFill>
                <a:latin typeface="Arial"/>
              </a:defRPr>
            </a:pPr>
            <a:r>
              <a:t>•  Gesellschafts- und Privatvermögen bleiben getrennt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430" b="0">
                <a:solidFill>
                  <a:srgbClr val="171717"/>
                </a:solidFill>
                <a:latin typeface="Arial"/>
              </a:defRPr>
            </a:pPr>
            <a:r>
              <a:t>•  Rückerstattungen ausschließlich über den Storno-Prozess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896000" y="1692000"/>
          <a:ext cx="6876000" cy="4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000"/>
                <a:gridCol w="3924000"/>
              </a:tblGrid>
              <a:tr h="5914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E0B456"/>
                          </a:solidFill>
                          <a:latin typeface="Arial"/>
                        </a:rPr>
                        <a:t>THEMA</a:t>
                      </a:r>
                    </a:p>
                  </a:txBody>
                  <a:tcPr marL="108000" marR="108000" marT="54000" marB="54000" anchor="ctr"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E0B456"/>
                          </a:solidFill>
                          <a:latin typeface="Arial"/>
                        </a:rPr>
                        <a:t>RAHMEN</a:t>
                      </a:r>
                    </a:p>
                  </a:txBody>
                  <a:tcPr marL="108000" marR="108000" marT="54000" marB="54000" anchor="ctr">
                    <a:solidFill>
                      <a:srgbClr val="070707"/>
                    </a:solidFill>
                  </a:tcPr>
                </a:tc>
              </a:tr>
              <a:tr h="5914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8B5C0C"/>
                          </a:solidFill>
                          <a:latin typeface="Arial"/>
                        </a:rPr>
                        <a:t>Startsortiment</a:t>
                      </a:r>
                    </a:p>
                  </a:txBody>
                  <a:tcPr marL="108000" marR="108000" marT="43200" marB="43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71717"/>
                          </a:solidFill>
                          <a:latin typeface="Arial"/>
                        </a:rPr>
                        <a:t>8–12 Modelle</a:t>
                      </a:r>
                    </a:p>
                  </a:txBody>
                  <a:tcPr marL="108000" marR="108000" marT="43200" marB="43200" anchor="ctr">
                    <a:solidFill>
                      <a:srgbClr val="FFFFFF"/>
                    </a:solidFill>
                  </a:tcPr>
                </a:tc>
              </a:tr>
              <a:tr h="5914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8B5C0C"/>
                          </a:solidFill>
                          <a:latin typeface="Arial"/>
                        </a:rPr>
                        <a:t>Bestand</a:t>
                      </a:r>
                    </a:p>
                  </a:txBody>
                  <a:tcPr marL="108000" marR="108000" marT="43200" marB="43200" anchor="ctr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71717"/>
                          </a:solidFill>
                          <a:latin typeface="Arial"/>
                        </a:rPr>
                        <a:t>1–3 je Modell</a:t>
                      </a:r>
                    </a:p>
                  </a:txBody>
                  <a:tcPr marL="108000" marR="108000" marT="43200" marB="43200" anchor="ctr">
                    <a:solidFill>
                      <a:srgbClr val="F7EEDC"/>
                    </a:solidFill>
                  </a:tcPr>
                </a:tc>
              </a:tr>
              <a:tr h="5914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8B5C0C"/>
                          </a:solidFill>
                          <a:latin typeface="Arial"/>
                        </a:rPr>
                        <a:t>Provision</a:t>
                      </a:r>
                    </a:p>
                  </a:txBody>
                  <a:tcPr marL="108000" marR="108000" marT="43200" marB="43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71717"/>
                          </a:solidFill>
                          <a:latin typeface="Arial"/>
                        </a:rPr>
                        <a:t>1,2 %</a:t>
                      </a:r>
                    </a:p>
                  </a:txBody>
                  <a:tcPr marL="108000" marR="108000" marT="43200" marB="43200" anchor="ctr">
                    <a:solidFill>
                      <a:srgbClr val="FFFFFF"/>
                    </a:solidFill>
                  </a:tcPr>
                </a:tc>
              </a:tr>
              <a:tr h="5914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8B5C0C"/>
                          </a:solidFill>
                          <a:latin typeface="Arial"/>
                        </a:rPr>
                        <a:t>Rabatte</a:t>
                      </a:r>
                    </a:p>
                  </a:txBody>
                  <a:tcPr marL="108000" marR="108000" marT="43200" marB="43200" anchor="ctr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71717"/>
                          </a:solidFill>
                          <a:latin typeface="Arial"/>
                        </a:rPr>
                        <a:t>2 % / 5 % / 7 %</a:t>
                      </a:r>
                    </a:p>
                  </a:txBody>
                  <a:tcPr marL="108000" marR="108000" marT="43200" marB="43200" anchor="ctr">
                    <a:solidFill>
                      <a:srgbClr val="F7EEDC"/>
                    </a:solidFill>
                  </a:tcPr>
                </a:tc>
              </a:tr>
              <a:tr h="5914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8B5C0C"/>
                          </a:solidFill>
                          <a:latin typeface="Arial"/>
                        </a:rPr>
                        <a:t>Nachbestellung</a:t>
                      </a:r>
                    </a:p>
                  </a:txBody>
                  <a:tcPr marL="108000" marR="108000" marT="43200" marB="43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71717"/>
                          </a:solidFill>
                          <a:latin typeface="Arial"/>
                        </a:rPr>
                        <a:t>Nur nach Freigabe</a:t>
                      </a:r>
                    </a:p>
                  </a:txBody>
                  <a:tcPr marL="108000" marR="108000" marT="43200" marB="43200" anchor="ctr">
                    <a:solidFill>
                      <a:srgbClr val="FFFFFF"/>
                    </a:solidFill>
                  </a:tcPr>
                </a:tc>
              </a:tr>
              <a:tr h="591432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8B5C0C"/>
                          </a:solidFill>
                          <a:latin typeface="Arial"/>
                        </a:rPr>
                        <a:t>Preiskontrolle</a:t>
                      </a:r>
                    </a:p>
                  </a:txBody>
                  <a:tcPr marL="108000" marR="108000" marT="43200" marB="43200" anchor="ctr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71717"/>
                          </a:solidFill>
                          <a:latin typeface="Arial"/>
                        </a:rPr>
                        <a:t>Nach 2 und 4 Wochen</a:t>
                      </a:r>
                    </a:p>
                  </a:txBody>
                  <a:tcPr marL="108000" marR="108000" marT="43200" marB="43200" anchor="ctr">
                    <a:solidFill>
                      <a:srgbClr val="F7EE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504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200"/>
            <a:ext cx="12192011" cy="198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H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61200"/>
            <a:ext cx="340870" cy="3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8000" y="79200"/>
            <a:ext cx="331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PRESTIGE DEALERSHIP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8000" y="93600"/>
            <a:ext cx="558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RABATTE &amp; KUNDEN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2000" y="79200"/>
            <a:ext cx="126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09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6566400"/>
            <a:ext cx="11473200" cy="1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606000"/>
            <a:ext cx="11473200" cy="15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666666"/>
                </a:solidFill>
                <a:latin typeface="Arial"/>
              </a:rPr>
              <a:t>AH MOTORS  ·  EXKLUSIVER FAHRZEUGHANDEL  ·  PALETO BAY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756000"/>
            <a:ext cx="540000" cy="540000"/>
          </a:xfrm>
          <a:prstGeom prst="roundRect">
            <a:avLst>
              <a:gd name="adj" fmla="val 8000"/>
            </a:avLst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799200"/>
            <a:ext cx="540000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774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71717"/>
                </a:solidFill>
                <a:latin typeface="Arial"/>
              </a:rPr>
              <a:t>RABATTE, KUNDENSTATUS UND INFORMATIONEN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000" y="1152000"/>
            <a:ext cx="1008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8B5C0C"/>
                </a:solidFill>
                <a:latin typeface="Arial"/>
              </a:rPr>
              <a:t>Begründete Ausnahmen statt frei verteilter Vorteile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000" y="1332000"/>
            <a:ext cx="10548000" cy="162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2000" y="1692000"/>
            <a:ext cx="4536000" cy="410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000" y="1692000"/>
            <a:ext cx="4536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000" y="2244600"/>
            <a:ext cx="4536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00" y="1774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000" y="1810800"/>
            <a:ext cx="381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E0B456"/>
                </a:solidFill>
                <a:latin typeface="Arial"/>
              </a:rPr>
              <a:t>8.1  REGELN FÜR RABATTE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" y="2448000"/>
            <a:ext cx="4104000" cy="32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  <a:defRPr sz="1420" b="0">
                <a:solidFill>
                  <a:srgbClr val="171717"/>
                </a:solidFill>
                <a:latin typeface="Arial"/>
              </a:defRPr>
            </a:pPr>
            <a:r>
              <a:t>•  Grund, Aussteller, Empfänger, Wert und Gültigkeit dokumentieren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420" b="0">
                <a:solidFill>
                  <a:srgbClr val="171717"/>
                </a:solidFill>
                <a:latin typeface="Arial"/>
              </a:defRPr>
            </a:pPr>
            <a:r>
              <a:t>•  Keine Kombination mit Provision zur Regelumgehung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420" b="0">
                <a:solidFill>
                  <a:srgbClr val="171717"/>
                </a:solidFill>
                <a:latin typeface="Arial"/>
              </a:defRPr>
            </a:pPr>
            <a:r>
              <a:t>•  Keine Selbstbegünstigung oder Vorteile für Zweitcharaktere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420" b="0">
                <a:solidFill>
                  <a:srgbClr val="171717"/>
                </a:solidFill>
                <a:latin typeface="Arial"/>
              </a:defRPr>
            </a:pPr>
            <a:r>
              <a:t>•  Ungewöhnliche Rabatte werden geprüft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420" b="0">
                <a:solidFill>
                  <a:srgbClr val="171717"/>
                </a:solidFill>
                <a:latin typeface="Arial"/>
              </a:defRPr>
            </a:pPr>
            <a:r>
              <a:t>•  Keine OOC-Absprachen oder Echtgeld-Gegenleistungen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420" b="0">
                <a:solidFill>
                  <a:srgbClr val="171717"/>
                </a:solidFill>
                <a:latin typeface="Arial"/>
              </a:defRPr>
            </a:pPr>
            <a:r>
              <a:t>•  Informationsgeschäfte nur mit regelkonformem In-Character-Wissen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00000" y="1692000"/>
            <a:ext cx="6372000" cy="12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00000" y="1692000"/>
            <a:ext cx="6372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00000" y="2244600"/>
            <a:ext cx="6372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44000" y="1774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6000" y="1810800"/>
            <a:ext cx="5652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E0B456"/>
                </a:solidFill>
                <a:latin typeface="Arial"/>
              </a:rPr>
              <a:t>8.2  STANDARD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6000" y="2448000"/>
            <a:ext cx="594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171717"/>
                </a:solidFill>
                <a:latin typeface="Arial"/>
              </a:rPr>
              <a:t>Regulärer Kunde ohne Sonderrechte.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00000" y="3096000"/>
            <a:ext cx="6372000" cy="12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00000" y="3096000"/>
            <a:ext cx="6372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00000" y="3648600"/>
            <a:ext cx="6372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44000" y="3178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76000" y="3214800"/>
            <a:ext cx="5652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E0B456"/>
                </a:solidFill>
                <a:latin typeface="Arial"/>
              </a:rPr>
              <a:t>8.3  GOLD / VIP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16000" y="3852000"/>
            <a:ext cx="594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171717"/>
                </a:solidFill>
                <a:latin typeface="Arial"/>
              </a:rPr>
              <a:t>Einladungen und Vorverkaufsoptionen nach klaren Kriterien.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00000" y="4500000"/>
            <a:ext cx="6372000" cy="12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00000" y="4500000"/>
            <a:ext cx="6372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00000" y="5052600"/>
            <a:ext cx="6372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44000" y="4582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76000" y="4618800"/>
            <a:ext cx="5652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E0B456"/>
                </a:solidFill>
                <a:latin typeface="Arial"/>
              </a:rPr>
              <a:t>8.4  BLACKLIST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16000" y="5256000"/>
            <a:ext cx="594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171717"/>
                </a:solidFill>
                <a:latin typeface="Arial"/>
              </a:rPr>
              <a:t>Nur bei dokumentiertem Fehlverhalten – mit Einspruchsweg.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504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200"/>
            <a:ext cx="12192011" cy="198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H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61200"/>
            <a:ext cx="340870" cy="3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8000" y="79200"/>
            <a:ext cx="331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PRESTIGE DEALERSHIP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8000" y="93600"/>
            <a:ext cx="558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MITARBEITERSTRUKTUR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2000" y="79200"/>
            <a:ext cx="126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10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6566400"/>
            <a:ext cx="11473200" cy="1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606000"/>
            <a:ext cx="11473200" cy="15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666666"/>
                </a:solidFill>
                <a:latin typeface="Arial"/>
              </a:rPr>
              <a:t>AH MOTORS  ·  EXKLUSIVER FAHRZEUGHANDEL  ·  PALETO BAY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756000"/>
            <a:ext cx="540000" cy="540000"/>
          </a:xfrm>
          <a:prstGeom prst="roundRect">
            <a:avLst>
              <a:gd name="adj" fmla="val 8000"/>
            </a:avLst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799200"/>
            <a:ext cx="540000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774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71717"/>
                </a:solidFill>
                <a:latin typeface="Arial"/>
              </a:rPr>
              <a:t>MITARBEITERSTRUKTUR UND VERANTWORTUNG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000" y="1152000"/>
            <a:ext cx="1008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8B5C0C"/>
                </a:solidFill>
                <a:latin typeface="Arial"/>
              </a:rPr>
              <a:t>Klare Rollen, Kompetenzen und Kontrollwege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000" y="1332000"/>
            <a:ext cx="10548000" cy="162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32000" y="1692000"/>
          <a:ext cx="1134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000"/>
                <a:gridCol w="4752000"/>
                <a:gridCol w="4284000"/>
              </a:tblGrid>
              <a:tr h="576000">
                <a:tc>
                  <a:txBody>
                    <a:bodyPr/>
                    <a:lstStyle/>
                    <a:p>
                      <a:r>
                        <a:rPr sz="1380" b="1">
                          <a:solidFill>
                            <a:srgbClr val="E0B456"/>
                          </a:solidFill>
                          <a:latin typeface="Arial"/>
                        </a:rPr>
                        <a:t>RANG</a:t>
                      </a:r>
                    </a:p>
                  </a:txBody>
                  <a:tcPr marL="108000" marR="108000" marT="54000" marB="54000" anchor="ctr"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0" b="1">
                          <a:solidFill>
                            <a:srgbClr val="E0B456"/>
                          </a:solidFill>
                          <a:latin typeface="Arial"/>
                        </a:rPr>
                        <a:t>HAUPTAUFGABEN</a:t>
                      </a:r>
                    </a:p>
                  </a:txBody>
                  <a:tcPr marL="108000" marR="108000" marT="54000" marB="54000" anchor="ctr"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0" b="1">
                          <a:solidFill>
                            <a:srgbClr val="E0B456"/>
                          </a:solidFill>
                          <a:latin typeface="Arial"/>
                        </a:rPr>
                        <a:t>BEFUGNISSE</a:t>
                      </a:r>
                    </a:p>
                  </a:txBody>
                  <a:tcPr marL="108000" marR="108000" marT="54000" marB="54000" anchor="ctr">
                    <a:solidFill>
                      <a:srgbClr val="070707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380" b="1">
                          <a:solidFill>
                            <a:srgbClr val="8B5C0C"/>
                          </a:solidFill>
                          <a:latin typeface="Arial"/>
                        </a:rPr>
                        <a:t>Praktikant</a:t>
                      </a:r>
                    </a:p>
                  </a:txBody>
                  <a:tcPr marL="108000" marR="108000" marT="43200" marB="43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0" b="0">
                          <a:solidFill>
                            <a:srgbClr val="171717"/>
                          </a:solidFill>
                          <a:latin typeface="Arial"/>
                        </a:rPr>
                        <a:t>Einarbeitung und Unterstützung</a:t>
                      </a:r>
                    </a:p>
                  </a:txBody>
                  <a:tcPr marL="108000" marR="108000" marT="43200" marB="43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0" b="0">
                          <a:solidFill>
                            <a:srgbClr val="171717"/>
                          </a:solidFill>
                          <a:latin typeface="Arial"/>
                        </a:rPr>
                        <a:t>Keine Verkäufe / Rabatte</a:t>
                      </a:r>
                    </a:p>
                  </a:txBody>
                  <a:tcPr marL="108000" marR="108000" marT="43200" marB="43200" anchor="ctr"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380" b="1">
                          <a:solidFill>
                            <a:srgbClr val="8B5C0C"/>
                          </a:solidFill>
                          <a:latin typeface="Arial"/>
                        </a:rPr>
                        <a:t>Verkäufer</a:t>
                      </a:r>
                    </a:p>
                  </a:txBody>
                  <a:tcPr marL="108000" marR="108000" marT="43200" marB="43200" anchor="ctr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0" b="0">
                          <a:solidFill>
                            <a:srgbClr val="171717"/>
                          </a:solidFill>
                          <a:latin typeface="Arial"/>
                        </a:rPr>
                        <a:t>Beratung, Angebote und Kundenpflege</a:t>
                      </a:r>
                    </a:p>
                  </a:txBody>
                  <a:tcPr marL="108000" marR="108000" marT="43200" marB="43200" anchor="ctr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0" b="0">
                          <a:solidFill>
                            <a:srgbClr val="171717"/>
                          </a:solidFill>
                          <a:latin typeface="Arial"/>
                        </a:rPr>
                        <a:t>Verkäufe + kleine Rabatte</a:t>
                      </a:r>
                    </a:p>
                  </a:txBody>
                  <a:tcPr marL="108000" marR="108000" marT="43200" marB="43200" anchor="ctr">
                    <a:solidFill>
                      <a:srgbClr val="F7EEDC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380" b="1">
                          <a:solidFill>
                            <a:srgbClr val="8B5C0C"/>
                          </a:solidFill>
                          <a:latin typeface="Arial"/>
                        </a:rPr>
                        <a:t>Verkaufsleitung</a:t>
                      </a:r>
                    </a:p>
                  </a:txBody>
                  <a:tcPr marL="108000" marR="108000" marT="43200" marB="43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0" b="0">
                          <a:solidFill>
                            <a:srgbClr val="171717"/>
                          </a:solidFill>
                          <a:latin typeface="Arial"/>
                        </a:rPr>
                        <a:t>Tagesgeschäft, Bestand und Stornos</a:t>
                      </a:r>
                    </a:p>
                  </a:txBody>
                  <a:tcPr marL="108000" marR="108000" marT="43200" marB="43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0" b="0">
                          <a:solidFill>
                            <a:srgbClr val="171717"/>
                          </a:solidFill>
                          <a:latin typeface="Arial"/>
                        </a:rPr>
                        <a:t>Erweiterte Rabatte + Kontrolle</a:t>
                      </a:r>
                    </a:p>
                  </a:txBody>
                  <a:tcPr marL="108000" marR="108000" marT="43200" marB="43200" anchor="ctr"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380" b="1">
                          <a:solidFill>
                            <a:srgbClr val="8B5C0C"/>
                          </a:solidFill>
                          <a:latin typeface="Arial"/>
                        </a:rPr>
                        <a:t>Geschäftsführung</a:t>
                      </a:r>
                    </a:p>
                  </a:txBody>
                  <a:tcPr marL="108000" marR="108000" marT="43200" marB="43200" anchor="ctr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0" b="0">
                          <a:solidFill>
                            <a:srgbClr val="171717"/>
                          </a:solidFill>
                          <a:latin typeface="Arial"/>
                        </a:rPr>
                        <a:t>Strategie, Personal und Finanzen</a:t>
                      </a:r>
                    </a:p>
                  </a:txBody>
                  <a:tcPr marL="108000" marR="108000" marT="43200" marB="43200" anchor="ctr">
                    <a:solidFill>
                      <a:srgbClr val="F7E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0" b="0">
                          <a:solidFill>
                            <a:srgbClr val="171717"/>
                          </a:solidFill>
                          <a:latin typeface="Arial"/>
                        </a:rPr>
                        <a:t>Gesamtverantwortung + Protokolle</a:t>
                      </a:r>
                    </a:p>
                  </a:txBody>
                  <a:tcPr marL="108000" marR="108000" marT="43200" marB="43200" anchor="ctr">
                    <a:solidFill>
                      <a:srgbClr val="F7EEDC"/>
                    </a:solidFill>
                  </a:tcPr>
                </a:tc>
              </a:tr>
            </a:tbl>
          </a:graphicData>
        </a:graphic>
      </p:graphicFrame>
      <p:sp>
        <p:nvSpPr>
          <p:cNvPr id="16" name="Oval 15"/>
          <p:cNvSpPr/>
          <p:nvPr/>
        </p:nvSpPr>
        <p:spPr>
          <a:xfrm>
            <a:off x="432000" y="4932000"/>
            <a:ext cx="324000" cy="324000"/>
          </a:xfrm>
          <a:prstGeom prst="ellipse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" y="4957200"/>
            <a:ext cx="324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00" y="4932000"/>
            <a:ext cx="5112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171717"/>
                </a:solidFill>
                <a:latin typeface="Arial"/>
              </a:rPr>
              <a:t>Aktive Bespielung und faire Personalauswahl</a:t>
            </a:r>
          </a:p>
        </p:txBody>
      </p:sp>
      <p:sp>
        <p:nvSpPr>
          <p:cNvPr id="19" name="Oval 18"/>
          <p:cNvSpPr/>
          <p:nvPr/>
        </p:nvSpPr>
        <p:spPr>
          <a:xfrm>
            <a:off x="6192000" y="4932000"/>
            <a:ext cx="324000" cy="324000"/>
          </a:xfrm>
          <a:prstGeom prst="ellipse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2000" y="4957200"/>
            <a:ext cx="324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0000" y="4932000"/>
            <a:ext cx="5112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171717"/>
                </a:solidFill>
                <a:latin typeface="Arial"/>
              </a:rPr>
              <a:t>Einhaltung aller Server- und Wirtschaftsregeln</a:t>
            </a:r>
          </a:p>
        </p:txBody>
      </p:sp>
      <p:sp>
        <p:nvSpPr>
          <p:cNvPr id="22" name="Oval 21"/>
          <p:cNvSpPr/>
          <p:nvPr/>
        </p:nvSpPr>
        <p:spPr>
          <a:xfrm>
            <a:off x="432000" y="5652000"/>
            <a:ext cx="324000" cy="324000"/>
          </a:xfrm>
          <a:prstGeom prst="ellipse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000" y="5677200"/>
            <a:ext cx="324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00" y="5652000"/>
            <a:ext cx="5112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171717"/>
                </a:solidFill>
                <a:latin typeface="Arial"/>
              </a:rPr>
              <a:t>Regelmäßige Kontrolle von Verkäufen und Gesellschaftskonto</a:t>
            </a:r>
          </a:p>
        </p:txBody>
      </p:sp>
      <p:sp>
        <p:nvSpPr>
          <p:cNvPr id="25" name="Oval 24"/>
          <p:cNvSpPr/>
          <p:nvPr/>
        </p:nvSpPr>
        <p:spPr>
          <a:xfrm>
            <a:off x="6192000" y="5652000"/>
            <a:ext cx="324000" cy="324000"/>
          </a:xfrm>
          <a:prstGeom prst="ellipse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2000" y="5677200"/>
            <a:ext cx="324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0000" y="5652000"/>
            <a:ext cx="5112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171717"/>
                </a:solidFill>
                <a:latin typeface="Arial"/>
              </a:rPr>
              <a:t>Fehler und Exploits zeitnah melden; bei Prüfungen kooperieren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504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200"/>
            <a:ext cx="12192011" cy="198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H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61200"/>
            <a:ext cx="340870" cy="3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8000" y="79200"/>
            <a:ext cx="331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PRESTIGE DEALERSHIP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8000" y="93600"/>
            <a:ext cx="558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MISSBRAUCHSSCHUTZ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2000" y="79200"/>
            <a:ext cx="126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11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6566400"/>
            <a:ext cx="11473200" cy="1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606000"/>
            <a:ext cx="11473200" cy="15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666666"/>
                </a:solidFill>
                <a:latin typeface="Arial"/>
              </a:rPr>
              <a:t>AH MOTORS  ·  EXKLUSIVER FAHRZEUGHANDEL  ·  PALETO BAY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756000"/>
            <a:ext cx="540000" cy="540000"/>
          </a:xfrm>
          <a:prstGeom prst="roundRect">
            <a:avLst>
              <a:gd name="adj" fmla="val 8000"/>
            </a:avLst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799200"/>
            <a:ext cx="540000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774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71717"/>
                </a:solidFill>
                <a:latin typeface="Arial"/>
              </a:rPr>
              <a:t>MISSBRAUCHSSCHUTZ UND TRANSPARENZ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000" y="1152000"/>
            <a:ext cx="1008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8B5C0C"/>
                </a:solidFill>
                <a:latin typeface="Arial"/>
              </a:rPr>
              <a:t>Prüfen, protokollieren und sicher betreiben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000" y="1332000"/>
            <a:ext cx="10548000" cy="162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2000" y="1728000"/>
            <a:ext cx="3564000" cy="34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000" y="1728000"/>
            <a:ext cx="356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000" y="2280600"/>
            <a:ext cx="356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00" y="1810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000" y="1846800"/>
            <a:ext cx="284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E0B456"/>
                </a:solidFill>
                <a:latin typeface="Arial"/>
              </a:rPr>
              <a:t>10.1  SERVERSEITIGE PRÜFUNG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" y="2484000"/>
            <a:ext cx="3132000" cy="2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Preise, Rechte, Bestand und Rabatte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Ausdrückliche Kaufbestätigung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Feste Rollen und Grenzen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8000" y="1728000"/>
            <a:ext cx="3564000" cy="34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48000" y="1728000"/>
            <a:ext cx="356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48000" y="2280600"/>
            <a:ext cx="356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92000" y="1810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4000" y="1846800"/>
            <a:ext cx="284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E0B456"/>
                </a:solidFill>
                <a:latin typeface="Arial"/>
              </a:rPr>
              <a:t>10.2  VOLLSTÄNDIGE PROTOKOLLE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4000" y="2484000"/>
            <a:ext cx="3132000" cy="2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Verkäufe, Rabatte und Stornos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Fahrzeug- und Kundenhistorie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Discord-Logs wichtiger Aktionen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4000" y="1728000"/>
            <a:ext cx="3564000" cy="34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4000" y="1728000"/>
            <a:ext cx="356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4000" y="2280600"/>
            <a:ext cx="356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8000" y="1810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0000" y="1846800"/>
            <a:ext cx="284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E0B456"/>
                </a:solidFill>
                <a:latin typeface="Arial"/>
              </a:rPr>
              <a:t>10.3  BETRIEBSSICHERHEIT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0000" y="2484000"/>
            <a:ext cx="3132000" cy="2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Schutz vor Doppelverarbeitung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Kontrollierte Wiederaufnahme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500" b="0">
                <a:solidFill>
                  <a:srgbClr val="171717"/>
                </a:solidFill>
                <a:latin typeface="Arial"/>
              </a:defRPr>
            </a:pPr>
            <a:r>
              <a:t>•  Ansicht offener Problemfälle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5508000"/>
            <a:ext cx="11340000" cy="900000"/>
          </a:xfrm>
          <a:prstGeom prst="rect">
            <a:avLst/>
          </a:prstGeom>
          <a:solidFill>
            <a:srgbClr val="070707"/>
          </a:solidFill>
          <a:ln w="8255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2000" y="5508000"/>
            <a:ext cx="72000" cy="9000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000" y="5580000"/>
            <a:ext cx="432000" cy="75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0" i="0">
                <a:solidFill>
                  <a:srgbClr val="C58A22"/>
                </a:solidFill>
                <a:latin typeface="Georgia"/>
              </a:rPr>
              <a:t>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000" y="5616000"/>
            <a:ext cx="10440000" cy="6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Die Serverleitung erhält bei begründetem Bedarf Einsicht in relevante Protokolle. Exploits, Umgehungsversuche und auffällige Transaktionen werden nicht vertuscht, sondern gemeldet.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504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200"/>
            <a:ext cx="12192011" cy="198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H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61200"/>
            <a:ext cx="340870" cy="3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8000" y="79200"/>
            <a:ext cx="331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PRESTIGE DEALERSHIP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8000" y="93600"/>
            <a:ext cx="558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TECHNISCHER RAHMEN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2000" y="79200"/>
            <a:ext cx="126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12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6566400"/>
            <a:ext cx="11473200" cy="1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606000"/>
            <a:ext cx="11473200" cy="15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666666"/>
                </a:solidFill>
                <a:latin typeface="Arial"/>
              </a:rPr>
              <a:t>AH MOTORS  ·  EXKLUSIVER FAHRZEUGHANDEL  ·  PALETO BAY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756000"/>
            <a:ext cx="540000" cy="540000"/>
          </a:xfrm>
          <a:prstGeom prst="roundRect">
            <a:avLst>
              <a:gd name="adj" fmla="val 8000"/>
            </a:avLst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799200"/>
            <a:ext cx="540000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774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71717"/>
                </a:solidFill>
                <a:latin typeface="Arial"/>
              </a:rPr>
              <a:t>TECHNISCHER RAHMEN UND UMSETZUNGSSTAND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000" y="1152000"/>
            <a:ext cx="1008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8B5C0C"/>
                </a:solidFill>
                <a:latin typeface="Arial"/>
              </a:rPr>
              <a:t>Die FiveM-Resource für den Kernbetrieb besteht bereits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000" y="1332000"/>
            <a:ext cx="10548000" cy="162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2000" y="1692000"/>
            <a:ext cx="3564000" cy="16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000" y="1692000"/>
            <a:ext cx="356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000" y="2244600"/>
            <a:ext cx="356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00" y="1774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000" y="1810800"/>
            <a:ext cx="284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0B456"/>
                </a:solidFill>
                <a:latin typeface="Arial"/>
              </a:rPr>
              <a:t>11.1  SHOWROOM &amp; KATALOG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" y="2448000"/>
            <a:ext cx="3132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171717"/>
                </a:solidFill>
                <a:latin typeface="Arial"/>
              </a:rPr>
              <a:t>Fahrzeugkatalog, Showroom und Lagerhistorie.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8000" y="1692000"/>
            <a:ext cx="3564000" cy="16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48000" y="1692000"/>
            <a:ext cx="356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48000" y="2244600"/>
            <a:ext cx="356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92000" y="1774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4000" y="1810800"/>
            <a:ext cx="284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0B456"/>
                </a:solidFill>
                <a:latin typeface="Arial"/>
              </a:rPr>
              <a:t>11.2  KUNDEN &amp; ANFRAGEN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4000" y="2448000"/>
            <a:ext cx="3132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171717"/>
                </a:solidFill>
                <a:latin typeface="Arial"/>
              </a:rPr>
              <a:t>Kundenverwaltung, Anfragen, VIP und Blacklist.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4000" y="1692000"/>
            <a:ext cx="3564000" cy="16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4000" y="1692000"/>
            <a:ext cx="356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4000" y="2244600"/>
            <a:ext cx="356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8000" y="1774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0000" y="1810800"/>
            <a:ext cx="284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0B456"/>
                </a:solidFill>
                <a:latin typeface="Arial"/>
              </a:rPr>
              <a:t>11.3  SICHERER VERKAUF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0000" y="2448000"/>
            <a:ext cx="3132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171717"/>
                </a:solidFill>
                <a:latin typeface="Arial"/>
              </a:rPr>
              <a:t>Bestätigung sowie Preis-, Bestands- und Rechteprüfung.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000" y="3600000"/>
            <a:ext cx="3564000" cy="16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2000" y="3600000"/>
            <a:ext cx="356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2000" y="4152600"/>
            <a:ext cx="356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00" y="3682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8000" y="3718800"/>
            <a:ext cx="284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0B456"/>
                </a:solidFill>
                <a:latin typeface="Arial"/>
              </a:rPr>
              <a:t>11.4  RECHTE &amp; RABATTE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000" y="4356000"/>
            <a:ext cx="3132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171717"/>
                </a:solidFill>
                <a:latin typeface="Arial"/>
              </a:rPr>
              <a:t>Rangbasierte Berechtigungen und Rabattgrenzen.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48000" y="3600000"/>
            <a:ext cx="3564000" cy="16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48000" y="3600000"/>
            <a:ext cx="356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48000" y="4152600"/>
            <a:ext cx="356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92000" y="3682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24000" y="3718800"/>
            <a:ext cx="284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0B456"/>
                </a:solidFill>
                <a:latin typeface="Arial"/>
              </a:rPr>
              <a:t>11.5  FINANZEN &amp; STORNO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4000" y="4356000"/>
            <a:ext cx="3132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171717"/>
                </a:solidFill>
                <a:latin typeface="Arial"/>
              </a:rPr>
              <a:t>Gesellschaftskonto, Provision und Storno-Protokoll.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64000" y="3600000"/>
            <a:ext cx="3564000" cy="16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64000" y="3600000"/>
            <a:ext cx="356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64000" y="4152600"/>
            <a:ext cx="356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08000" y="3682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40000" y="3718800"/>
            <a:ext cx="284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0B456"/>
                </a:solidFill>
                <a:latin typeface="Arial"/>
              </a:rPr>
              <a:t>11.6  APPS &amp; LOGS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0000" y="4356000"/>
            <a:ext cx="3132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 i="0">
                <a:solidFill>
                  <a:srgbClr val="171717"/>
                </a:solidFill>
                <a:latin typeface="Arial"/>
              </a:rPr>
              <a:t>Tablet, NUI-Terminals, Dashboard und Discord-Logs.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2000" y="5724000"/>
            <a:ext cx="11340000" cy="684000"/>
          </a:xfrm>
          <a:prstGeom prst="rect">
            <a:avLst/>
          </a:prstGeom>
          <a:solidFill>
            <a:srgbClr val="F7EEDC"/>
          </a:solidFill>
          <a:ln w="8255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2000" y="5724000"/>
            <a:ext cx="72000" cy="6840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000" y="5796000"/>
            <a:ext cx="432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0" i="0">
                <a:solidFill>
                  <a:srgbClr val="C58A22"/>
                </a:solidFill>
                <a:latin typeface="Georgia"/>
              </a:rPr>
              <a:t>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52000" y="5832000"/>
            <a:ext cx="10440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0" i="0">
                <a:solidFill>
                  <a:srgbClr val="171717"/>
                </a:solidFill>
                <a:latin typeface="Arial"/>
              </a:rPr>
              <a:t>Basis: Qbox · ox_lib · ox_target · oxmysql · qbx_vehicles · qbx_garages · Renewed Banking · optional LB Phone / Tablet und HLNotify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504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200"/>
            <a:ext cx="12192011" cy="198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H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61200"/>
            <a:ext cx="340870" cy="3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8000" y="79200"/>
            <a:ext cx="3312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PRESTIGE DEALERSHIP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8000" y="93600"/>
            <a:ext cx="5580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OFFENE ENTSCHEIDUNGEN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2000" y="79200"/>
            <a:ext cx="126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0B456"/>
                </a:solidFill>
                <a:latin typeface="Arial"/>
              </a:rPr>
              <a:t>13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6566400"/>
            <a:ext cx="11473200" cy="1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606000"/>
            <a:ext cx="11473200" cy="15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666666"/>
                </a:solidFill>
                <a:latin typeface="Arial"/>
              </a:rPr>
              <a:t>AH MOTORS  ·  EXKLUSIVER FAHRZEUGHANDEL  ·  PALETO BAY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756000"/>
            <a:ext cx="540000" cy="540000"/>
          </a:xfrm>
          <a:prstGeom prst="roundRect">
            <a:avLst>
              <a:gd name="adj" fmla="val 8000"/>
            </a:avLst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799200"/>
            <a:ext cx="540000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774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71717"/>
                </a:solidFill>
                <a:latin typeface="Arial"/>
              </a:rPr>
              <a:t>OFFENE ENTSCHEIDUNGEN DER SERVERLEITUNG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000" y="1152000"/>
            <a:ext cx="1008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8B5C0C"/>
                </a:solidFill>
                <a:latin typeface="Arial"/>
              </a:rPr>
              <a:t>Diese Punkte müssen vor dem Live-Start verbindlich festgelegt werden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000" y="1332000"/>
            <a:ext cx="10548000" cy="162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2000" y="1728000"/>
            <a:ext cx="5580000" cy="68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000" y="1908000"/>
            <a:ext cx="288000" cy="288000"/>
          </a:xfrm>
          <a:prstGeom prst="rect">
            <a:avLst/>
          </a:prstGeom>
          <a:noFill/>
          <a:ln w="15240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4000" y="1857600"/>
            <a:ext cx="46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8B5C0C"/>
                </a:solidFill>
                <a:latin typeface="Arial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4000" y="1818000"/>
            <a:ext cx="4212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Arial"/>
              </a:rPr>
              <a:t>Genehmigung des Unternehmens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728000"/>
            <a:ext cx="5580000" cy="68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72000" y="1908000"/>
            <a:ext cx="288000" cy="288000"/>
          </a:xfrm>
          <a:prstGeom prst="rect">
            <a:avLst/>
          </a:prstGeom>
          <a:noFill/>
          <a:ln w="15240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4000" y="1857600"/>
            <a:ext cx="46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8B5C0C"/>
                </a:solidFill>
                <a:latin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4000" y="1818000"/>
            <a:ext cx="4212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Arial"/>
              </a:rPr>
              <a:t>Standort, Garage und Gebäudenutzung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2592000"/>
            <a:ext cx="5580000" cy="68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000" y="2772000"/>
            <a:ext cx="288000" cy="288000"/>
          </a:xfrm>
          <a:prstGeom prst="rect">
            <a:avLst/>
          </a:prstGeom>
          <a:noFill/>
          <a:ln w="15240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4000" y="2721600"/>
            <a:ext cx="46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8B5C0C"/>
                </a:solidFill>
                <a:latin typeface="Arial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4000" y="2682000"/>
            <a:ext cx="4212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Arial"/>
              </a:rPr>
              <a:t>Startsortiment, Stückzahlen und Basispreise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2000" y="2592000"/>
            <a:ext cx="5580000" cy="68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72000" y="2772000"/>
            <a:ext cx="288000" cy="288000"/>
          </a:xfrm>
          <a:prstGeom prst="rect">
            <a:avLst/>
          </a:prstGeom>
          <a:noFill/>
          <a:ln w="15240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4000" y="2721600"/>
            <a:ext cx="46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8B5C0C"/>
                </a:solidFill>
                <a:latin typeface="Arial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44000" y="2682000"/>
            <a:ext cx="4212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Arial"/>
              </a:rPr>
              <a:t>Einkaufs-/Importkosten oder alternative Abgabe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000" y="3456000"/>
            <a:ext cx="5580000" cy="68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000" y="3636000"/>
            <a:ext cx="288000" cy="288000"/>
          </a:xfrm>
          <a:prstGeom prst="rect">
            <a:avLst/>
          </a:prstGeom>
          <a:noFill/>
          <a:ln w="15240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4000" y="3585600"/>
            <a:ext cx="46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8B5C0C"/>
                </a:solidFill>
                <a:latin typeface="Arial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84000" y="3546000"/>
            <a:ext cx="4212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Arial"/>
              </a:rPr>
              <a:t>Endgültige Provisions- und Rabattgrenzen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2000" y="3456000"/>
            <a:ext cx="5580000" cy="68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72000" y="3636000"/>
            <a:ext cx="288000" cy="288000"/>
          </a:xfrm>
          <a:prstGeom prst="rect">
            <a:avLst/>
          </a:prstGeom>
          <a:noFill/>
          <a:ln w="15240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04000" y="3585600"/>
            <a:ext cx="46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8B5C0C"/>
                </a:solidFill>
                <a:latin typeface="Arial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4000" y="3546000"/>
            <a:ext cx="4212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Arial"/>
              </a:rPr>
              <a:t>Abgrenzung zu bestehenden Autohäusern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2000" y="4320000"/>
            <a:ext cx="5580000" cy="68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000" y="4500000"/>
            <a:ext cx="288000" cy="288000"/>
          </a:xfrm>
          <a:prstGeom prst="rect">
            <a:avLst/>
          </a:prstGeom>
          <a:noFill/>
          <a:ln w="15240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4000" y="4449600"/>
            <a:ext cx="46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8B5C0C"/>
                </a:solidFill>
                <a:latin typeface="Arial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84000" y="4410000"/>
            <a:ext cx="4212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Arial"/>
              </a:rPr>
              <a:t>Anzahlungen und Bestellungen mit Lieferzeit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2000" y="4320000"/>
            <a:ext cx="5580000" cy="68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72000" y="4500000"/>
            <a:ext cx="288000" cy="288000"/>
          </a:xfrm>
          <a:prstGeom prst="rect">
            <a:avLst/>
          </a:prstGeom>
          <a:noFill/>
          <a:ln w="15240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04000" y="4449600"/>
            <a:ext cx="46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8B5C0C"/>
                </a:solidFill>
                <a:latin typeface="Arial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44000" y="4410000"/>
            <a:ext cx="4212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Arial"/>
              </a:rPr>
              <a:t>VIP-Status und Blacklist-Einsprüche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2000" y="5184000"/>
            <a:ext cx="5580000" cy="68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2000" y="5364000"/>
            <a:ext cx="288000" cy="288000"/>
          </a:xfrm>
          <a:prstGeom prst="rect">
            <a:avLst/>
          </a:prstGeom>
          <a:noFill/>
          <a:ln w="15240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4000" y="5313600"/>
            <a:ext cx="46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8B5C0C"/>
                </a:solidFill>
                <a:latin typeface="Arial"/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84000" y="5274000"/>
            <a:ext cx="4212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Arial"/>
              </a:rPr>
              <a:t>Zulässigkeit von Events, Auktionen und Verlosungen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92000" y="5184000"/>
            <a:ext cx="5580000" cy="68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72000" y="5364000"/>
            <a:ext cx="288000" cy="288000"/>
          </a:xfrm>
          <a:prstGeom prst="rect">
            <a:avLst/>
          </a:prstGeom>
          <a:noFill/>
          <a:ln w="15240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04000" y="5313600"/>
            <a:ext cx="46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8B5C0C"/>
                </a:solidFill>
                <a:latin typeface="Arial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44000" y="5274000"/>
            <a:ext cx="4212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Arial"/>
              </a:rPr>
              <a:t>Zugang der Serverleitung zu Auswertungen und Logs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ditorial-banner.png"/>
          <p:cNvPicPr>
            <a:picLocks noChangeAspect="1"/>
          </p:cNvPicPr>
          <p:nvPr/>
        </p:nvPicPr>
        <p:blipFill>
          <a:blip r:embed="rId2"/>
          <a:srcRect l="15798" r="15798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660000" cy="6858000"/>
          </a:xfrm>
          <a:prstGeom prst="rect">
            <a:avLst/>
          </a:prstGeom>
          <a:solidFill>
            <a:srgbClr val="070707">
              <a:alpha val="9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HF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360000"/>
            <a:ext cx="2592000" cy="15316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8000" y="1908000"/>
            <a:ext cx="5688000" cy="13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700" b="1" i="0">
                <a:solidFill>
                  <a:srgbClr val="FFFFFF"/>
                </a:solidFill>
                <a:latin typeface="Georgia"/>
              </a:rPr>
              <a:t>EXKLUSIVITÄT DURCH
VERANTWORTUNG.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3636000"/>
            <a:ext cx="5400000" cy="1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E0B456"/>
                </a:solidFill>
                <a:latin typeface="Arial"/>
              </a:rPr>
              <a:t>Prestige Dealership ist kein einfacher Zugang zu seltenen Fahrzeugen, sondern ein langfristiges RP-Unternehmen mit begrenzten Beständen, hochwertigen Abläufen und nachvollziehbaren Entscheidungen.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8000" y="5256000"/>
            <a:ext cx="5436000" cy="864000"/>
          </a:xfrm>
          <a:prstGeom prst="rect">
            <a:avLst/>
          </a:prstGeom>
          <a:solidFill>
            <a:srgbClr val="070707"/>
          </a:solidFill>
          <a:ln w="8255">
            <a:solidFill>
              <a:srgbClr val="C58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8000" y="5256000"/>
            <a:ext cx="72000" cy="8640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" y="5328000"/>
            <a:ext cx="432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0" i="0">
                <a:solidFill>
                  <a:srgbClr val="C58A22"/>
                </a:solidFill>
                <a:latin typeface="Georgia"/>
              </a:rP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8000" y="5364000"/>
            <a:ext cx="4536000" cy="64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Arial"/>
              </a:rPr>
              <a:t>Pilotphase · klare Wirtschaftsregeln · vollständige Transparenz · gemeinsame Anpassung mit der Serverleitung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8000" y="1368000"/>
            <a:ext cx="2304000" cy="1764000"/>
          </a:xfrm>
          <a:prstGeom prst="roundRect">
            <a:avLst>
              <a:gd name="adj" fmla="val 8000"/>
            </a:avLst>
          </a:prstGeom>
          <a:solidFill>
            <a:srgbClr val="F7EEDC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8000" y="1368000"/>
            <a:ext cx="230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8000" y="1920600"/>
            <a:ext cx="230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12000" y="1450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4000" y="1486800"/>
            <a:ext cx="158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0B456"/>
                </a:solidFill>
                <a:latin typeface="Arial"/>
              </a:rPr>
              <a:t>FREIGABE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4000" y="2124000"/>
            <a:ext cx="1872000" cy="8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71717"/>
                </a:solidFill>
                <a:latin typeface="Arial"/>
              </a:rPr>
              <a:t>Standort, Job und Rahmenwerte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52000" y="1368000"/>
            <a:ext cx="2304000" cy="1764000"/>
          </a:xfrm>
          <a:prstGeom prst="roundRect">
            <a:avLst>
              <a:gd name="adj" fmla="val 8000"/>
            </a:avLst>
          </a:prstGeom>
          <a:solidFill>
            <a:srgbClr val="F7EEDC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52000" y="1368000"/>
            <a:ext cx="230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52000" y="1920600"/>
            <a:ext cx="230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6000" y="1450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8000" y="1486800"/>
            <a:ext cx="158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0B456"/>
                </a:solidFill>
                <a:latin typeface="Arial"/>
              </a:rPr>
              <a:t>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8000" y="2124000"/>
            <a:ext cx="1872000" cy="8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71717"/>
                </a:solidFill>
                <a:latin typeface="Arial"/>
              </a:rPr>
              <a:t>8–12 kontrollierte Modelle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8000" y="3456000"/>
            <a:ext cx="2304000" cy="1764000"/>
          </a:xfrm>
          <a:prstGeom prst="roundRect">
            <a:avLst>
              <a:gd name="adj" fmla="val 8000"/>
            </a:avLst>
          </a:prstGeom>
          <a:solidFill>
            <a:srgbClr val="F7EEDC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68000" y="3456000"/>
            <a:ext cx="230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8000" y="4008600"/>
            <a:ext cx="230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12000" y="3538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4000" y="3574800"/>
            <a:ext cx="158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0B456"/>
                </a:solidFill>
                <a:latin typeface="Arial"/>
              </a:rPr>
              <a:t>PRÜFUNG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4000" y="4212000"/>
            <a:ext cx="1872000" cy="8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71717"/>
                </a:solidFill>
                <a:latin typeface="Arial"/>
              </a:rPr>
              <a:t>Auswertung nach zwei Wochen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52000" y="3456000"/>
            <a:ext cx="2304000" cy="1764000"/>
          </a:xfrm>
          <a:prstGeom prst="roundRect">
            <a:avLst>
              <a:gd name="adj" fmla="val 8000"/>
            </a:avLst>
          </a:prstGeom>
          <a:solidFill>
            <a:srgbClr val="F7EEDC"/>
          </a:solidFill>
          <a:ln w="8255">
            <a:solidFill>
              <a:srgbClr val="DEC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52000" y="3456000"/>
            <a:ext cx="2304000" cy="576000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52000" y="4008600"/>
            <a:ext cx="2304000" cy="23400"/>
          </a:xfrm>
          <a:prstGeom prst="rect">
            <a:avLst/>
          </a:prstGeom>
          <a:solidFill>
            <a:srgbClr val="C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96000" y="35388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 i="0">
                <a:solidFill>
                  <a:srgbClr val="C58A22"/>
                </a:solidFill>
                <a:latin typeface="Georgia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8000" y="3574800"/>
            <a:ext cx="1584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0B456"/>
                </a:solidFill>
                <a:latin typeface="Arial"/>
              </a:rPr>
              <a:t>ENTSCHEIDUNG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8000" y="4212000"/>
            <a:ext cx="1872000" cy="8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71717"/>
                </a:solidFill>
                <a:latin typeface="Arial"/>
              </a:rPr>
              <a:t>Anpassen oder verlängern</a:t>
            </a:r>
          </a:p>
        </p:txBody>
      </p:sp>
      <p:pic>
        <p:nvPicPr>
          <p:cNvPr id="35" name="Picture 34" descr="AHS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000" y="5436000"/>
            <a:ext cx="920348" cy="972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68000" y="5724000"/>
            <a:ext cx="327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HL|JamesMS  ·  HL|Vagari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Prestige Dealership – Google Slides Querformat</dc:title>
  <dc:subject>Lesbare 16:9-Präsentation für Google Slides</dc:subject>
  <dc:creator>Prestige Dealership</dc:creator>
  <cp:keywords>Prestige Dealership, AH Motors, Google Slides, FiveM</cp:keywords>
  <dc:description>generated using python-pptx</dc:description>
  <cp:lastModifiedBy>OpenAI Codex</cp:lastModifiedBy>
  <cp:revision>1</cp:revision>
  <dcterms:created xsi:type="dcterms:W3CDTF">2013-01-27T09:14:16Z</dcterms:created>
  <dcterms:modified xsi:type="dcterms:W3CDTF">2013-01-27T09:15:58Z</dcterms:modified>
  <cp:category/>
</cp:coreProperties>
</file>